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What's New in Microsoft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CCCCC"/>
                </a:solidFill>
                <a:latin typeface="Segoe UI"/>
              </a:defRPr>
            </a:pPr>
            <a:r>
              <a:t>Microsoft Foundry, Azure OpenAI Service &amp; Related Platforms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78D4"/>
                </a:solidFill>
                <a:latin typeface="Segoe UI"/>
              </a:defRPr>
            </a:pPr>
            <a:r>
              <a:t>December 2025 – February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Sources: Azure Blog, Microsoft Learn, Microsoft Tech Community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09728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45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Microsoft Foundry Platform Updates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240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New Models &amp; Azure OpenAI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834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AI Infrastructure &amp; Hardware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29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429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Azure Data Services for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23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023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Agentic AI &amp; Frameworks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17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6.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617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Model Deprecations &amp; Retirements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12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7.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212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Key Model Quick-Reference Table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Microsoft Foundry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09728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0078D4"/>
                </a:solidFill>
                <a:latin typeface="Segoe UI"/>
              </a:rPr>
              <a:t>Azure AI Foundry → Microsoft Foundry Rebrand</a:t>
            </a:r>
            <a:r>
              <a:rPr sz="1400" b="0">
                <a:solidFill>
                  <a:srgbClr val="FFFFFF"/>
                </a:solidFill>
                <a:latin typeface="Segoe UI"/>
              </a:rPr>
              <a:t>
Unified platform for building, deploying &amp; governing AI apps and multi-agent systems. Includes Foundry IQ, Tools (1,400+ connectors), Agent Service, Control Plane, Models &amp; Local.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0078D4"/>
                </a:solidFill>
                <a:latin typeface="Segoe UI"/>
              </a:rPr>
              <a:t>Gartner MQ Leader – AI App Development Platforms (Dec 17, 2025)</a:t>
            </a:r>
            <a:r>
              <a:rPr sz="1400" b="0">
                <a:solidFill>
                  <a:srgbClr val="FFFFFF"/>
                </a:solidFill>
                <a:latin typeface="Segoe UI"/>
              </a:rPr>
              <a:t>
Positioned furthest for Completeness of Vision. 80,000+ enterprises using Foundry. Microsoft used its own AI agents to prepare the Gartner submission.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0078D4"/>
                </a:solidFill>
                <a:latin typeface="Segoe UI"/>
              </a:rPr>
              <a:t>Foundry Key Pillars</a:t>
            </a:r>
            <a:r>
              <a:rPr sz="1400" b="0">
                <a:solidFill>
                  <a:srgbClr val="FFFFFF"/>
                </a:solidFill>
                <a:latin typeface="Segoe UI"/>
              </a:rPr>
              <a:t>
• Foundry IQ – Secure data grounding API for enterprise data
• Foundry Agent Service – Multi-agent orchestration
• Foundry Control Plane – Org-wide governance &amp; observability
• Foundry Local – On-device AI for low-latency / offline scenarios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GPT-5.2 – The New Enterprise Standard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09728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0078D4"/>
                </a:solidFill>
                <a:latin typeface="Segoe UI"/>
              </a:rPr>
              <a:t>GPT-5.2 (GA – Dec 11, 2025)</a:t>
            </a:r>
            <a:r>
              <a:rPr sz="1400" b="0">
                <a:solidFill>
                  <a:srgbClr val="FFFFFF"/>
                </a:solidFill>
                <a:latin typeface="Segoe UI"/>
              </a:rPr>
              <a:t>
Deeper logical chains, richer context handling, agentic execution. Generates design docs, runnable code, unit tests &amp; deployment scripts with fewer iterations.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0078D4"/>
                </a:solidFill>
                <a:latin typeface="Segoe UI"/>
              </a:rPr>
              <a:t>GPT-5.2-Chat (GA)</a:t>
            </a:r>
            <a:r>
              <a:rPr sz="1400" b="0">
                <a:solidFill>
                  <a:srgbClr val="FFFFFF"/>
                </a:solidFill>
                <a:latin typeface="Segoe UI"/>
              </a:rPr>
              <a:t>
Everyday workhorse optimized for info-seeking, technical writing, translation, career guidance &amp; studying. Clear improvements over GPT-5.1-Chat.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0078D4"/>
                </a:solidFill>
                <a:latin typeface="Segoe UI"/>
              </a:rPr>
              <a:t>Key Capabilities</a:t>
            </a:r>
            <a:r>
              <a:rPr sz="1400" b="0">
                <a:solidFill>
                  <a:srgbClr val="FFFFFF"/>
                </a:solidFill>
                <a:latin typeface="Segoe UI"/>
              </a:rPr>
              <a:t>
• Multi-step logical chains with explainable plans
• Context-aware planning over large inputs (codebases, briefs)
• Agentic execution across design → implementation → testing → deployment
• Enterprise-grade safety, managed identities &amp; policy enforcement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0078D4"/>
                </a:solidFill>
                <a:latin typeface="Segoe UI"/>
              </a:rPr>
              <a:t>Pricing</a:t>
            </a:r>
            <a:r>
              <a:rPr sz="1400" b="0">
                <a:solidFill>
                  <a:srgbClr val="FFFFFF"/>
                </a:solidFill>
                <a:latin typeface="Segoe UI"/>
              </a:rPr>
              <a:t>
GPT-5.2 Global Standard: $1.75 / million input tokens, $14.00 / million output tokens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Anthropic Claude Models in Microsoft Foundry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09728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0078D4"/>
                </a:solidFill>
                <a:latin typeface="Segoe UI"/>
              </a:rPr>
              <a:t>Claude Opus 4.6 (Feb 5, 2026)</a:t>
            </a:r>
            <a:r>
              <a:rPr sz="1400" b="0">
                <a:solidFill>
                  <a:srgbClr val="FFFFFF"/>
                </a:solidFill>
                <a:latin typeface="Segoe UI"/>
              </a:rPr>
              <a:t>
Most powerful Claude model for coding, agents &amp; enterprise workflows. Delegates complex tasks end-to-end with autonomous production execution.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0078D4"/>
                </a:solidFill>
                <a:latin typeface="Segoe UI"/>
              </a:rPr>
              <a:t>Claude Sonnet 4.6 (Feb 17, 2026)</a:t>
            </a:r>
            <a:r>
              <a:rPr sz="1400" b="0">
                <a:solidFill>
                  <a:srgbClr val="FFFFFF"/>
                </a:solidFill>
                <a:latin typeface="Segoe UI"/>
              </a:rPr>
              <a:t>
Frontier performance across coding, agents &amp; professional work at scale. Complements Opus for teams needing a balance of performance and throughput.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0078D4"/>
                </a:solidFill>
                <a:latin typeface="Segoe UI"/>
              </a:rPr>
              <a:t>Claude for Healthcare &amp; Life Sciences (Jan 11, 2026)</a:t>
            </a:r>
            <a:r>
              <a:rPr sz="1400" b="0">
                <a:solidFill>
                  <a:srgbClr val="FFFFFF"/>
                </a:solidFill>
                <a:latin typeface="Segoe UI"/>
              </a:rPr>
              <a:t>
New tools, connectors &amp; skills purpose-built for clinical, pharmaceutical and life sciences use cases – advanced reasoning &amp; agentic workflows for healthcare.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Image &amp; Audio Model Updates (Dec 2025)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09728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0078D4"/>
                </a:solidFill>
                <a:latin typeface="Segoe UI"/>
              </a:rPr>
              <a:t>GPT-image-1.5 (Limited Access)</a:t>
            </a:r>
            <a:r>
              <a:rPr sz="1400" b="0">
                <a:solidFill>
                  <a:srgbClr val="FFFFFF"/>
                </a:solidFill>
                <a:latin typeface="Segoe UI"/>
              </a:rPr>
              <a:t>
Latest image generation: inpainting, face preservation, image editing, up to 1536×1024px. Successor to GPT-image-1 with improved quality &amp; editing controls.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0078D4"/>
                </a:solidFill>
                <a:latin typeface="Segoe UI"/>
              </a:rPr>
              <a:t>gpt-4o-mini-transcribe-2025-12-15 (ASR)</a:t>
            </a:r>
            <a:r>
              <a:rPr sz="1400" b="0">
                <a:solidFill>
                  <a:srgbClr val="FFFFFF"/>
                </a:solidFill>
                <a:latin typeface="Segoe UI"/>
              </a:rPr>
              <a:t>
~50% lower word error rate vs. predecessor. Improved multilingual performance. 4× reduction in hallucinations on silence – ideal for noisy, real-world audio.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0078D4"/>
                </a:solidFill>
                <a:latin typeface="Segoe UI"/>
              </a:rPr>
              <a:t>gpt-realtime-mini-2025-12-15 (Speech-to-Speech)</a:t>
            </a:r>
            <a:r>
              <a:rPr sz="1400" b="0">
                <a:solidFill>
                  <a:srgbClr val="FFFFFF"/>
                </a:solidFill>
                <a:latin typeface="Segoe UI"/>
              </a:rPr>
              <a:t>
Feature parity with full GPT Realtime model in instruction-following &amp; function-calling. Audio in → audio out, API-only.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0078D4"/>
                </a:solidFill>
                <a:latin typeface="Segoe UI"/>
              </a:rPr>
              <a:t>gpt-4o-mini-tts-2025-12-15 (Text-to-Speech)</a:t>
            </a:r>
            <a:r>
              <a:rPr sz="1400" b="0">
                <a:solidFill>
                  <a:srgbClr val="FFFFFF"/>
                </a:solidFill>
                <a:latin typeface="Segoe UI"/>
              </a:rPr>
              <a:t>
New benchmark for multilingual synthesis. More natural, human-like speech with fewer artifacts and improved speaker similarity.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AI Infrastructure &amp; Hardware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09728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0078D4"/>
                </a:solidFill>
                <a:latin typeface="Segoe UI"/>
              </a:rPr>
              <a:t>Maia 200 – Custom AI Inference Accelerator (Jan 26, 2026)</a:t>
            </a:r>
            <a:r>
              <a:rPr sz="1400" b="0">
                <a:solidFill>
                  <a:srgbClr val="FFFFFF"/>
                </a:solidFill>
                <a:latin typeface="Segoe UI"/>
              </a:rPr>
              <a:t>
Microsoft’s next-gen custom silicon engineered to dramatically improve the economics of AI token generation. Gives Azure an edge in running models faster &amp; more cost-efficiently.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0078D4"/>
                </a:solidFill>
                <a:latin typeface="Segoe UI"/>
              </a:rPr>
              <a:t>NVIDIA Rubin Platform Readiness – CES 2026 (Jan 5, 2026)</a:t>
            </a:r>
            <a:r>
              <a:rPr sz="1400" b="0">
                <a:solidFill>
                  <a:srgbClr val="FFFFFF"/>
                </a:solidFill>
                <a:latin typeface="Segoe UI"/>
              </a:rPr>
              <a:t>
Azure superfactories pre-engineered for Vera Rubin NVL72 racks: 50 PF/chip, 3.6 EF/rack (5× jump). 6th-gen NVLink (~260 TB/s), ConnectX-9 1,600 Gb/s, HBM4 thermal planning already integrated.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0078D4"/>
                </a:solidFill>
                <a:latin typeface="Segoe UI"/>
              </a:rPr>
              <a:t>High-Temperature Superconductors (Feb 10, 2026)</a:t>
            </a:r>
            <a:r>
              <a:rPr sz="1400" b="0">
                <a:solidFill>
                  <a:srgbClr val="FFFFFF"/>
                </a:solidFill>
                <a:latin typeface="Segoe UI"/>
              </a:rPr>
              <a:t>
Exploring superconductor technology to transform datacenter power infrastructure, addressing rising power demands from AI workloads.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Azure Data Services for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09728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0078D4"/>
                </a:solidFill>
                <a:latin typeface="Segoe UI"/>
              </a:rPr>
              <a:t>PostgreSQL on Azure – Supercharged for AI (Feb 2, 2026)</a:t>
            </a:r>
            <a:r>
              <a:rPr sz="1400" b="0">
                <a:solidFill>
                  <a:srgbClr val="FFFFFF"/>
                </a:solidFill>
                <a:latin typeface="Segoe UI"/>
              </a:rPr>
              <a:t>
• GitHub Copilot integration for SQL in VS Code
• Invoke LLMs via SQL through Microsoft Foundry integration
• DiskANN vector indexing for high-performance similarity search
• MCP server connecting PostgreSQL → Foundry Agent Framework
• Zero-ETL mirroring to Microsoft Fabric
• PostgreSQL 18 GA, new V6 compute SKUs, Elastic Clusters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0078D4"/>
                </a:solidFill>
                <a:latin typeface="Segoe UI"/>
              </a:rPr>
              <a:t>Azure HorizonDB (Private Preview)</a:t>
            </a:r>
            <a:r>
              <a:rPr sz="1400" b="0">
                <a:solidFill>
                  <a:srgbClr val="FFFFFF"/>
                </a:solidFill>
                <a:latin typeface="Segoe UI"/>
              </a:rPr>
              <a:t>
New PostgreSQL-compatible service built for AI-native workloads. Scale-out compute, sub-millisecond latency, built-in AI features.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Agentic AI &amp; Frameworks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09728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0078D4"/>
                </a:solidFill>
                <a:latin typeface="Segoe UI"/>
              </a:rPr>
              <a:t>Agentic Cloud Operations (Feb 11, 2026)</a:t>
            </a:r>
            <a:r>
              <a:rPr sz="1400" b="0">
                <a:solidFill>
                  <a:srgbClr val="FFFFFF"/>
                </a:solidFill>
                <a:latin typeface="Segoe UI"/>
              </a:rPr>
              <a:t>
New paradigm where AI agents assist with cloud operations – monitoring, incident response &amp; management tasks powered by the Foundry platform.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0078D4"/>
                </a:solidFill>
                <a:latin typeface="Segoe UI"/>
              </a:rPr>
              <a:t>Microsoft Marketplace for AI &amp; Agent Strategy (Jan 15, 2026)</a:t>
            </a:r>
            <a:r>
              <a:rPr sz="1400" b="0">
                <a:solidFill>
                  <a:srgbClr val="FFFFFF"/>
                </a:solidFill>
                <a:latin typeface="Segoe UI"/>
              </a:rPr>
              <a:t>
New marketplace category helping organizations embed AI across every layer of operations. Accelerate delivery, scale efficiently &amp; unlock new business potential.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0078D4"/>
                </a:solidFill>
                <a:latin typeface="Segoe UI"/>
              </a:rPr>
              <a:t>Pantone – Agentic AI Case Study (Feb 12, 2026)</a:t>
            </a:r>
            <a:r>
              <a:rPr sz="1400" b="0">
                <a:solidFill>
                  <a:srgbClr val="FFFFFF"/>
                </a:solidFill>
                <a:latin typeface="Segoe UI"/>
              </a:rPr>
              <a:t>
Pantone launched an AI-powered experience combining an AI-ready database with agentic workflows, iterating rapidly on real user feedback.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0078D4"/>
                </a:solidFill>
                <a:latin typeface="Segoe UI"/>
              </a:rPr>
              <a:t>Agents League Community Challenge (Feb 16–27, 2026)</a:t>
            </a:r>
            <a:r>
              <a:rPr sz="1400" b="0">
                <a:solidFill>
                  <a:srgbClr val="FFFFFF"/>
                </a:solidFill>
                <a:latin typeface="Segoe UI"/>
              </a:rPr>
              <a:t>
Developer challenge: build agents, compete live, win prizes. Part of Microsoft’s push to grow the agentic AI developer ecosystem.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Model Deprecations &amp; Retirements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09728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011680"/>
                <a:gridCol w="3474720"/>
                <a:gridCol w="2560320"/>
              </a:tblGrid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Deprecation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Retirement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o1 (2024-12-17)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Standard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Dec 17, 2025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Jul 15, 2026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o3-mini (2025-01-31)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Standard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Jan 31, 2026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Aug 2, 2026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gpt-5-chat (preview)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Preview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Mar 1, 2026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gpt-4o (all GA versions)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Standard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Mar 31, 2026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gpt-4o-mini (2024-07-18)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Standard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Mar 31, 2026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gpt-4.1 family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GA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Apr 14, 2026 (dep)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Oct 14, 2026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gpt-4.1-nano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GA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Apr 14, 2026 (dep)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Oct 14, 2026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A500"/>
                </a:solidFill>
                <a:latin typeface="Segoe UI"/>
              </a:defRPr>
            </a:pPr>
            <a:r>
              <a:t>Auto-upgrades for gpt-4o Standard begin Mar 9, 2026. Review your deployments &amp; test with latest versions.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Retirement Action Items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09728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0078D4"/>
                </a:solidFill>
                <a:latin typeface="Segoe UI"/>
              </a:rPr>
              <a:t>Audit Current Deployments</a:t>
            </a:r>
            <a:r>
              <a:rPr sz="1400" b="0">
                <a:solidFill>
                  <a:srgbClr val="FFFFFF"/>
                </a:solidFill>
                <a:latin typeface="Segoe UI"/>
              </a:rPr>
              <a:t>
Identify all deployments using deprecated or soon-to-retire model versions. Prioritise gpt-4o Standard and o1 workloads.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0078D4"/>
                </a:solidFill>
                <a:latin typeface="Segoe UI"/>
              </a:rPr>
              <a:t>Test with Latest GA Versions</a:t>
            </a:r>
            <a:r>
              <a:rPr sz="1400" b="0">
                <a:solidFill>
                  <a:srgbClr val="FFFFFF"/>
                </a:solidFill>
                <a:latin typeface="Segoe UI"/>
              </a:rPr>
              <a:t>
Validate application behaviour on current GA models before auto-upgrades take effect (gpt-4o auto-upgrade starts Mar 9, 2026).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0078D4"/>
                </a:solidFill>
                <a:latin typeface="Segoe UI"/>
              </a:rPr>
              <a:t>Migrate Fine-Tuned Models</a:t>
            </a:r>
            <a:r>
              <a:rPr sz="1400" b="0">
                <a:solidFill>
                  <a:srgbClr val="FFFFFF"/>
                </a:solidFill>
                <a:latin typeface="Segoe UI"/>
              </a:rPr>
              <a:t>
Fine-tuned deployments on retired bases are NOT auto-upgraded. Re-train on a supported base model before the retirement date.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0078D4"/>
                </a:solidFill>
                <a:latin typeface="Segoe UI"/>
              </a:rPr>
              <a:t>Monitor the Retirements Page</a:t>
            </a:r>
            <a:r>
              <a:rPr sz="1400" b="0">
                <a:solidFill>
                  <a:srgbClr val="FFFFFF"/>
                </a:solidFill>
                <a:latin typeface="Segoe UI"/>
              </a:rPr>
              <a:t>
Bookmark learn.microsoft.com/azure/ai-foundry/openai/concepts/model-retirements for the latest schedule and replacement recommendations.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Key Model Releases – Quick Reference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09728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286000"/>
                <a:gridCol w="4114800"/>
                <a:gridCol w="1645920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Key Improvement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GPT-5.2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Reasoning/Chat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Deeper logical chains, agentic execution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GA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GPT-5.2-Chat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Chat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Everyday workhorse, improved info-seeking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GA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Claude Opus 4.6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Reasoning/Coding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End-to-end autonomous task execution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GA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Claude Sonnet 4.6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Coding/Agents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Frontier performance at scale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GA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GPT-image-1.5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Image Gen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Inpainting, face preservation, 1536px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Limited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gpt-4o-mini-transcribe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ASR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50% lower WER, 4× less hallucinations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GA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gpt-realtime-mini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Speech-to-Speech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Feature parity with full Realtime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GA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gpt-4o-mini-tts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Text-to-Speech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Best multilingual synthesis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GA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Key Links &amp; Resources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09728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Segoe UI"/>
              </a:defRPr>
            </a:pPr>
            <a:r>
              <a:t>Microsoft Foundry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4630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https://ai.azure.com/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Segoe UI"/>
              </a:defRPr>
            </a:pPr>
            <a:r>
              <a:t>Foundry Product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9659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https://azure.microsoft.com/en-us/products/ai-foundry/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Segoe UI"/>
              </a:defRPr>
            </a:pPr>
            <a:r>
              <a:t>Azure OpenAI What’s New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4688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https://learn.microsoft.com/en-us/azure/ai-foundry/openai/whats-new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71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Segoe UI"/>
              </a:defRPr>
            </a:pPr>
            <a:r>
              <a:t>Model Retirements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718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https://learn.microsoft.com/en-us/azure/ai-foundry/openai/concepts/model-retirements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Segoe UI"/>
              </a:defRPr>
            </a:pPr>
            <a:r>
              <a:t>Azure AI Blog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4747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https://azure.microsoft.com/en-us/blog/category/ai-machine-learning/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77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Segoe UI"/>
              </a:defRPr>
            </a:pPr>
            <a:r>
              <a:t>Foundry Tech Community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9776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https://techcommunity.microsoft.com/category/azure-ai-foundry/blog/azure-ai-foundry-blog/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480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Segoe UI"/>
              </a:defRPr>
            </a:pPr>
            <a:r>
              <a:t>Foundry Models Catalog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4805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https://azure.microsoft.com/en-us/products/ai-foundry/models/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983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Segoe UI"/>
              </a:defRPr>
            </a:pPr>
            <a:r>
              <a:t>Foundry Agent 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9834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https://azure.microsoft.com/en-us/products/ai-foundry/agent-service/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486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Segoe UI"/>
              </a:defRPr>
            </a:pPr>
            <a:r>
              <a:t>Azure Updates Feed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54864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https://azure.microsoft.com/en-us/updates/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Start Building with Microsoft Foundry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78D4"/>
                </a:solidFill>
                <a:latin typeface="Segoe UI"/>
              </a:defRPr>
            </a:pPr>
            <a:r>
              <a:t>https://ai.azure.com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Compiled from official Microsoft sources – February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